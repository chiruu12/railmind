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l-saarthi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17320"/>
            <a:ext cx="5255443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977639"/>
            <a:ext cx="94484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C"/>
                </a:solidFill>
                <a:latin typeface="Calibri"/>
              </a:rPr>
              <a:t>An agentic operating system for Indian Railways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9AA7BD"/>
                </a:solidFill>
                <a:latin typeface="Calibri"/>
              </a:rPr>
              <a:t>Multi-agent AI that keeps trains on time, in real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5166360"/>
            <a:ext cx="1371600" cy="41148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5166360"/>
            <a:ext cx="914400" cy="4114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9AA7BD"/>
                </a:solidFill>
                <a:latin typeface="Calibri"/>
              </a:rPr>
              <a:t>FAR AWAY 2026  ·  Hackathon MVP  ·  built on Hive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C"/>
                </a:solidFill>
                <a:latin typeface="Calibri"/>
              </a:rPr>
              <a:t>India's railways are falling behind, </a:t>
            </a:r>
            <a:r>
              <a:rPr sz="4000" b="1" i="0">
                <a:solidFill>
                  <a:srgbClr val="FF9E1B"/>
                </a:solidFill>
                <a:latin typeface="Calibri"/>
              </a:rPr>
              <a:t>on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486400" cy="2926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150">
                <a:solidFill>
                  <a:srgbClr val="9AA7BD"/>
                </a:solidFill>
                <a:latin typeface="Calibri"/>
              </a:rPr>
              <a:t>ON-TIME PERFORMANCE, KEY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9AA7BD"/>
                </a:solidFill>
                <a:latin typeface="Calibri"/>
              </a:rPr>
              <a:t>94.2%</a:t>
            </a:r>
            <a:r>
              <a:rPr sz="1400" b="0" i="0">
                <a:solidFill>
                  <a:srgbClr val="9AA7BD"/>
                </a:solidFill>
                <a:latin typeface="Calibri"/>
              </a:rPr>
              <a:t>   in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9E1B"/>
                </a:solidFill>
                <a:latin typeface="Calibri"/>
              </a:rPr>
              <a:t>73.6%</a:t>
            </a:r>
            <a:r>
              <a:rPr sz="1400" b="0" i="0">
                <a:solidFill>
                  <a:srgbClr val="9AA7BD"/>
                </a:solidFill>
                <a:latin typeface="Calibri"/>
              </a:rPr>
              <a:t>   by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30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9AA7BD"/>
                </a:solidFill>
                <a:latin typeface="Calibri"/>
              </a:rPr>
              <a:t>A 20.6 point fall in just three years.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85292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A9EFF"/>
                </a:solidFill>
                <a:latin typeface="Calibri"/>
              </a:rPr>
              <a:t>19M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52928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Calibri"/>
              </a:rPr>
              <a:t>passengers carried every single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76472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88620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A9EFF"/>
                </a:solidFill>
                <a:latin typeface="Calibri"/>
              </a:rPr>
              <a:t>69,000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86200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Calibri"/>
              </a:rPr>
              <a:t>of track across the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09744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91947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A9EFF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919472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Calibri"/>
              </a:rPr>
              <a:t>real-time, system-wide intelligence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CURRENT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C"/>
                </a:solidFill>
                <a:latin typeface="Calibri"/>
              </a:rPr>
              <a:t>Where the system breaks down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82296" cy="17830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Calibri"/>
              </a:rPr>
              <a:t>Chronic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1"/>
            <a:ext cx="29992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D"/>
                </a:solidFill>
                <a:latin typeface="Calibri"/>
              </a:rPr>
              <a:t>80% of key routes run over capacity, with no slack to absorb a single slip.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96596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965960"/>
            <a:ext cx="82296" cy="17830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6712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Calibri"/>
              </a:rPr>
              <a:t>Fragmented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1"/>
            <a:ext cx="29992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D"/>
                </a:solidFill>
                <a:latin typeface="Calibri"/>
              </a:rPr>
              <a:t>Crew and platform assignments juggled by hand, control center to control center.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6596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965960"/>
            <a:ext cx="82296" cy="17830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16712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Calibri"/>
              </a:rPr>
              <a:t>Aging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79191"/>
            <a:ext cx="29992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D"/>
                </a:solidFill>
                <a:latin typeface="Calibri"/>
              </a:rPr>
              <a:t>British-era signaling still gates throughput on critical sections.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82296" cy="1783080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78807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Calibri"/>
              </a:rPr>
              <a:t>No proactive comms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2"/>
            <a:ext cx="29992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D"/>
                </a:solidFill>
                <a:latin typeface="Calibri"/>
              </a:rPr>
              <a:t>Passengers learn of disruptions late, if at all, with no live, trustworthy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977639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3977639"/>
            <a:ext cx="82296" cy="1783080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4178807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Calibri"/>
              </a:rPr>
              <a:t>Freight vs passenger conflict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690872"/>
            <a:ext cx="29992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D"/>
                </a:solidFill>
                <a:latin typeface="Calibri"/>
              </a:rPr>
              <a:t>Shared tracks force constant trade-offs with no system-wide optimizer.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977639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977639"/>
            <a:ext cx="82296" cy="1783080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4178807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Calibri"/>
              </a:rPr>
              <a:t>Siloed control centers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690872"/>
            <a:ext cx="29992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D"/>
                </a:solidFill>
                <a:latin typeface="Calibri"/>
              </a:rPr>
              <a:t>Each zone sees its own slice; no shared, real-time network awareness.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7FC"/>
                </a:solidFill>
                <a:latin typeface="Calibri"/>
              </a:rPr>
              <a:t>Rail Saarthi</a:t>
            </a:r>
            <a:r>
              <a:rPr sz="3400" b="1" i="0">
                <a:solidFill>
                  <a:srgbClr val="4A9EFF"/>
                </a:solidFill>
                <a:latin typeface="Calibri"/>
              </a:rPr>
              <a:t>: an agentic OS for Indian Railways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502152" cy="26974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02152" cy="8229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EFF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54680"/>
            <a:ext cx="29535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F7FC"/>
                </a:solidFill>
                <a:latin typeface="Calibri"/>
              </a:rPr>
              <a:t>A multi-agent AI system: Train, Station, Crew, Maintenance and Passenger agents coordinating on a live digital twin.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194560"/>
            <a:ext cx="3502152" cy="26974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2194560"/>
            <a:ext cx="3502152" cy="82296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9E1B"/>
                </a:solidFill>
                <a:latin typeface="Calibri"/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9535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F7FC"/>
                </a:solidFill>
                <a:latin typeface="Calibri"/>
              </a:rPr>
              <a:t>Makes real-time decisions across trains, stations, crew and freight: detect a delay, reroute platforms, swap crew, alert passengers.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194560"/>
            <a:ext cx="3502152" cy="26974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2194560"/>
            <a:ext cx="3502152" cy="82296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51460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D07F"/>
                </a:solidFill>
                <a:latin typeface="Calibri"/>
              </a:rPr>
              <a:t>What it replaces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154680"/>
            <a:ext cx="29535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F7FC"/>
                </a:solidFill>
                <a:latin typeface="Calibri"/>
              </a:rPr>
              <a:t>Reactive, manual control-room firefighting → proactive, autonomous coordination that self-heals the timetable.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9AA7BD"/>
                </a:solidFill>
                <a:latin typeface="Calibri"/>
              </a:rPr>
              <a:t>Deterministic rules decide what's feasible. LLMs choose among safe options and explain why.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4F7FC"/>
                </a:solidFill>
                <a:latin typeface="Calibri"/>
              </a:rPr>
              <a:t>Inject a 25-min delay. Watch the system self-heal.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7498079" cy="406908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905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29" y="1993392"/>
            <a:ext cx="6606780" cy="39227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9202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920240"/>
            <a:ext cx="82296" cy="9144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20391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EFF"/>
                </a:solidFill>
                <a:latin typeface="Calibri"/>
              </a:rPr>
              <a:t>Corridor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3774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live train positions on the NDLS to DDU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953512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953512"/>
            <a:ext cx="82296" cy="9144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307238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EFF"/>
                </a:solidFill>
                <a:latin typeface="Calibri"/>
              </a:rPr>
              <a:t>Agent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071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the cascade resolving, decision by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86783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986783"/>
            <a:ext cx="82296" cy="9144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4105655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EFF"/>
                </a:solidFill>
                <a:latin typeface="Calibri"/>
              </a:rPr>
              <a:t>Platform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4443983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a conflict caught and avoided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020055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5020055"/>
            <a:ext cx="82296" cy="9144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513892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EFF"/>
                </a:solidFill>
                <a:latin typeface="Calibri"/>
              </a:rPr>
              <a:t>KPI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5477255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instant platforming, avg delay, knock-on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4F7FC"/>
                </a:solidFill>
                <a:latin typeface="Calibri"/>
              </a:rPr>
              <a:t>Agents on a shared bus, fed by live rail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75104" cy="777240"/>
          </a:xfrm>
          <a:prstGeom prst="roundRect">
            <a:avLst>
              <a:gd name="adj" fmla="val 8000"/>
            </a:avLst>
          </a:prstGeom>
          <a:solidFill>
            <a:srgbClr val="16223C"/>
          </a:solidFill>
          <a:ln w="1587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Calibri"/>
              </a:rP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9AA7BD"/>
                </a:solidFill>
                <a:latin typeface="Calibri"/>
              </a:rP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8488" y="2834640"/>
            <a:ext cx="22860" cy="411480"/>
          </a:xfrm>
          <a:prstGeom prst="rect">
            <a:avLst/>
          </a:prstGeom>
          <a:solidFill>
            <a:srgbClr val="2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9776" y="2057400"/>
            <a:ext cx="1975104" cy="777240"/>
          </a:xfrm>
          <a:prstGeom prst="roundRect">
            <a:avLst>
              <a:gd name="adj" fmla="val 8000"/>
            </a:avLst>
          </a:prstGeom>
          <a:solidFill>
            <a:srgbClr val="16223C"/>
          </a:solidFill>
          <a:ln w="1587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9776" y="205740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Calibri"/>
              </a:rPr>
              <a:t>Station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9AA7BD"/>
                </a:solidFill>
                <a:latin typeface="Calibri"/>
              </a:rPr>
              <a:t>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8184" y="2834640"/>
            <a:ext cx="22860" cy="411480"/>
          </a:xfrm>
          <a:prstGeom prst="rect">
            <a:avLst/>
          </a:prstGeom>
          <a:solidFill>
            <a:srgbClr val="2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19472" y="2057400"/>
            <a:ext cx="1975104" cy="777240"/>
          </a:xfrm>
          <a:prstGeom prst="roundRect">
            <a:avLst>
              <a:gd name="adj" fmla="val 8000"/>
            </a:avLst>
          </a:prstGeom>
          <a:solidFill>
            <a:srgbClr val="16223C"/>
          </a:solidFill>
          <a:ln w="1587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205740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Calibri"/>
              </a:rPr>
              <a:t>Crew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9AA7BD"/>
                </a:solidFill>
                <a:latin typeface="Calibri"/>
              </a:rPr>
              <a:t>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834640"/>
            <a:ext cx="22860" cy="411480"/>
          </a:xfrm>
          <a:prstGeom prst="rect">
            <a:avLst/>
          </a:prstGeom>
          <a:solidFill>
            <a:srgbClr val="2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59168" y="2057400"/>
            <a:ext cx="1975104" cy="777240"/>
          </a:xfrm>
          <a:prstGeom prst="roundRect">
            <a:avLst>
              <a:gd name="adj" fmla="val 8000"/>
            </a:avLst>
          </a:prstGeom>
          <a:solidFill>
            <a:srgbClr val="16223C"/>
          </a:solidFill>
          <a:ln w="1587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205740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Calibri"/>
              </a:rPr>
              <a:t>Maintenance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9AA7BD"/>
                </a:solidFill>
                <a:latin typeface="Calibri"/>
              </a:rPr>
              <a:t>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834640"/>
            <a:ext cx="22860" cy="411480"/>
          </a:xfrm>
          <a:prstGeom prst="rect">
            <a:avLst/>
          </a:prstGeom>
          <a:solidFill>
            <a:srgbClr val="2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98864" y="2057400"/>
            <a:ext cx="1975104" cy="777240"/>
          </a:xfrm>
          <a:prstGeom prst="roundRect">
            <a:avLst>
              <a:gd name="adj" fmla="val 8000"/>
            </a:avLst>
          </a:prstGeom>
          <a:solidFill>
            <a:srgbClr val="16223C"/>
          </a:solidFill>
          <a:ln w="1587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205740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Calibri"/>
              </a:rPr>
              <a:t>Passenger Info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9AA7BD"/>
                </a:solidFill>
                <a:latin typeface="Calibri"/>
              </a:rPr>
              <a:t>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77272" y="2834640"/>
            <a:ext cx="22860" cy="411480"/>
          </a:xfrm>
          <a:prstGeom prst="rect">
            <a:avLst/>
          </a:prstGeom>
          <a:solidFill>
            <a:srgbClr val="2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2461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 spc="300">
                <a:solidFill>
                  <a:srgbClr val="010715"/>
                </a:solidFill>
                <a:latin typeface="Calibri"/>
              </a:rPr>
              <a:t>CENTRAL MESSAGE BUS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9AA7BD"/>
                </a:solidFill>
                <a:latin typeface="Calibri"/>
              </a:rPr>
              <a:t>DATA 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1975104" cy="54864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19751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NTES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79776" y="4434840"/>
            <a:ext cx="1975104" cy="54864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4434840"/>
            <a:ext cx="19751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IRCTC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9472" y="4434840"/>
            <a:ext cx="1975104" cy="54864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4434840"/>
            <a:ext cx="19751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FOIS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4434840"/>
            <a:ext cx="1975104" cy="54864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4434840"/>
            <a:ext cx="19751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SCADA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98864" y="4434840"/>
            <a:ext cx="1975104" cy="54864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98864" y="4434840"/>
            <a:ext cx="19751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Weather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4924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A7BD"/>
                </a:solidFill>
                <a:latin typeface="Calibri"/>
              </a:rPr>
              <a:t>Stack:  </a:t>
            </a:r>
            <a:r>
              <a:rPr sz="1300" b="0" i="0">
                <a:solidFill>
                  <a:srgbClr val="F4F7FC"/>
                </a:solidFill>
                <a:latin typeface="Calibri"/>
              </a:rPr>
              <a:t>FastAPI  ·  in-process event bus  ·  SQLite  ·  React  ·  Hive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IMPACT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C"/>
                </a:solidFill>
                <a:latin typeface="Calibri"/>
              </a:rPr>
              <a:t>What the agents actually 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2670048" cy="8229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304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A9EFF"/>
                </a:solidFill>
                <a:latin typeface="Calibri"/>
              </a:rPr>
              <a:t>+34%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Calibri"/>
              </a:rPr>
              <a:t>network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931920"/>
            <a:ext cx="2304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vs naive dispatch (MDPI multi-agent study)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574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057400"/>
            <a:ext cx="2670048" cy="82296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2304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9E1B"/>
                </a:solidFill>
                <a:latin typeface="Calibri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Calibri"/>
              </a:rPr>
              <a:t>instant platforming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2304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trains platformed without waiting, in sim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574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57400"/>
            <a:ext cx="2670048" cy="82296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2304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5D07F"/>
                </a:solidFill>
                <a:latin typeface="Calibri"/>
              </a:rPr>
              <a:t>&lt;100ms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Calibri"/>
              </a:rPr>
              <a:t>agent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2304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from event detected to decision proposed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574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057400"/>
            <a:ext cx="2670048" cy="8229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514600"/>
            <a:ext cx="2304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A9EFF"/>
                </a:solidFill>
                <a:latin typeface="Calibri"/>
              </a:rPr>
              <a:t>20%+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7472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Calibri"/>
              </a:rPr>
              <a:t>fewer knock-on delays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2304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D"/>
                </a:solidFill>
                <a:latin typeface="Calibri"/>
              </a:rPr>
              <a:t>cascade reduction across the corridor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9AA7BD"/>
                </a:solidFill>
                <a:latin typeface="Calibri"/>
              </a:rPr>
              <a:t>Simulated results. Pilot validation planned.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84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4A9E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C"/>
                </a:solidFill>
                <a:latin typeface="Calibri"/>
              </a:rPr>
              <a:t>One corridor today, the network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2029967"/>
            <a:ext cx="10515600" cy="36576"/>
          </a:xfrm>
          <a:prstGeom prst="rect">
            <a:avLst/>
          </a:prstGeom>
          <a:solidFill>
            <a:srgbClr val="2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901952"/>
            <a:ext cx="256032" cy="256032"/>
          </a:xfrm>
          <a:prstGeom prst="ellipse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02152" cy="3200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502152" cy="8229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4A9EFF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07791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C"/>
                </a:solidFill>
                <a:latin typeface="Calibri"/>
              </a:rPr>
              <a:t>Hackathon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66160"/>
            <a:ext cx="29535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A9EF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Corridor simulation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A9EF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Delay injection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A9EF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Platform reassignment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A9EF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Live agent control room</a:t>
            </a:r>
          </a:p>
        </p:txBody>
      </p:sp>
      <p:sp>
        <p:nvSpPr>
          <p:cNvPr id="13" name="Oval 12"/>
          <p:cNvSpPr/>
          <p:nvPr/>
        </p:nvSpPr>
        <p:spPr>
          <a:xfrm>
            <a:off x="4507992" y="1901952"/>
            <a:ext cx="256032" cy="256032"/>
          </a:xfrm>
          <a:prstGeom prst="ellipse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286000"/>
            <a:ext cx="3502152" cy="3200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286000"/>
            <a:ext cx="3502152" cy="82296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6032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FF9E1B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07791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C"/>
                </a:solidFill>
                <a:latin typeface="Calibri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29535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5-station live corridor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NTES integration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Real crew &amp; duty data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FF9E1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Operator-in-the-loop</a:t>
            </a:r>
          </a:p>
        </p:txBody>
      </p:sp>
      <p:sp>
        <p:nvSpPr>
          <p:cNvPr id="19" name="Oval 18"/>
          <p:cNvSpPr/>
          <p:nvPr/>
        </p:nvSpPr>
        <p:spPr>
          <a:xfrm>
            <a:off x="8193023" y="1901952"/>
            <a:ext cx="256032" cy="256032"/>
          </a:xfrm>
          <a:prstGeom prst="ellipse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2286000"/>
            <a:ext cx="3502152" cy="32004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2286000"/>
            <a:ext cx="3502152" cy="82296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56032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35D07F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907791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C"/>
                </a:solidFill>
                <a:latin typeface="Calibri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566160"/>
            <a:ext cx="29535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35D07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National rollout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35D07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RL-based dispatch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35D07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Passenger AI chatbot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35D07F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4F7FC"/>
                </a:solidFill>
                <a:latin typeface="Calibri"/>
              </a:rPr>
              <a:t>Rail Madad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9AA7BD"/>
                </a:solidFill>
                <a:latin typeface="Calibri"/>
              </a:rPr>
              <a:t>Rail Saarthi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