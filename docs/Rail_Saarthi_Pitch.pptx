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l-saarthi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17320"/>
            <a:ext cx="5255443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977639"/>
            <a:ext cx="94484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7FC"/>
                </a:solidFill>
                <a:latin typeface="Calibri"/>
              </a:rPr>
              <a:t>An agentic operating system for Indian Railways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A7BD"/>
                </a:solidFill>
                <a:latin typeface="Calibri"/>
              </a:rPr>
              <a:t>Multi-agent AI that keeps trains on time, in real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5166360"/>
            <a:ext cx="1371600" cy="41148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5166360"/>
            <a:ext cx="914400" cy="4114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035040"/>
            <a:ext cx="94484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9AA7BD"/>
                </a:solidFill>
                <a:latin typeface="Calibri"/>
              </a:rPr>
              <a:t>FAR AWAY 2026  ·  Hackathon MVP  ·  built on Hive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F7FC"/>
                </a:solidFill>
                <a:latin typeface="Calibri"/>
              </a:rPr>
              <a:t>India's railways are falling behind, </a:t>
            </a:r>
            <a:r>
              <a:rPr sz="4000" b="1" i="0">
                <a:solidFill>
                  <a:srgbClr val="FF9E1B"/>
                </a:solidFill>
                <a:latin typeface="Calibri"/>
              </a:rPr>
              <a:t>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486400" cy="2926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9AA7BD"/>
                </a:solidFill>
                <a:latin typeface="Calibri"/>
              </a:rPr>
              <a:t>ON-TIME PERFORMANCE, KEY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9AA7BD"/>
                </a:solidFill>
                <a:latin typeface="Calibri"/>
              </a:rPr>
              <a:t>94.2%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   in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976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9E1B"/>
                </a:solidFill>
                <a:latin typeface="Calibri"/>
              </a:rPr>
              <a:t>73.6%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   by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AA7BD"/>
                </a:solidFill>
                <a:latin typeface="Calibri"/>
              </a:rPr>
              <a:t>A 20.6 point fall in just three years.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852928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19M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passengers carried every single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76472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3886200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69,000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886200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of track across the network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09744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4919472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919472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real-time, system-wide intelligence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CURRENT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Where the system breaks down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Chronic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80% of key routes run over capacity, with no slack to absorb a single slip.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Fragmented scheduling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Crew and platform assignments juggled by hand, control center to control center.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Aging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British-era signaling still gates throughput on critical sections.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No proactive comms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Passengers learn of disruptions late, if at all, with no live, trustworthy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9432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Freight vs passenger conflict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Shared tracks force constant trade-offs with no system-wide optimizer.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Siloed control centers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Each zone sees its own slice; no shared, real-time network awareness.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alibri"/>
              </a:rPr>
              <a:t>Rail Saarthi</a:t>
            </a:r>
            <a:r>
              <a:rPr sz="3400" b="1" i="0">
                <a:solidFill>
                  <a:srgbClr val="4A9EFF"/>
                </a:solidFill>
                <a:latin typeface="Calibri"/>
              </a:rPr>
              <a:t>: an agentic OS for Indian Railways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A9EFF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A multi-agent AI system: Train, Station, Crew, Maintenance and Passenger agents coordinating on a live digital twin.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219456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9E1B"/>
                </a:solidFill>
                <a:latin typeface="Calibri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Makes real-time decisions across trains, stations, crew and freight: detect a delay, reroute platforms, swap crew, alert passengers.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219456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5D07F"/>
                </a:solidFill>
                <a:latin typeface="Calibri"/>
              </a:rPr>
              <a:t>What it replaces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Reactive, manual control-room firefighting → proactive, autonomous coordination that self-heals the timetable.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AA7BD"/>
                </a:solidFill>
                <a:latin typeface="Calibri"/>
              </a:rPr>
              <a:t>Deterministic rules decide what's feasible. LLMs choose among safe options and explain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Calibri"/>
              </a:rPr>
              <a:t>Inject a 25-min delay. Watch the system self-heal.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7498079" cy="406908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905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29" y="1993392"/>
            <a:ext cx="6606780" cy="3922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9202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20240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7072" y="20391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Corridor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7072" y="237744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live train positions on the NDLS to DDU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953512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953512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0723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Agent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34107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the cascade resolving, decision by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86783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86783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05655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Platform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43983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a conflict caught and avoided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020055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020055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5138927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KPI 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5477255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instant platforming, avg delay, knock-on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Calibri"/>
              </a:rPr>
              <a:t>Agents on a shared bus, fed by live rail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Train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79776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9776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Station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8184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19472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Crew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59168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Maintenance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98864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Passenger Info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77272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461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46120"/>
            <a:ext cx="10881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300">
                <a:solidFill>
                  <a:srgbClr val="010715"/>
                </a:solidFill>
                <a:latin typeface="Calibri"/>
              </a:rPr>
              <a:t>CENTRAL MESSAGE BUS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9AA7BD"/>
                </a:solidFill>
                <a:latin typeface="Calibri"/>
              </a:rPr>
              <a:t>DATA SOURCES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NTES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79776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9776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IRCTC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19472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FOIS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59168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SCADA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4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4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Weather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3492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7BD"/>
                </a:solidFill>
                <a:latin typeface="Calibri"/>
              </a:rPr>
              <a:t>Stack:  </a:t>
            </a:r>
            <a:r>
              <a:rPr sz="1300" b="0" i="0">
                <a:solidFill>
                  <a:srgbClr val="F4F7FC"/>
                </a:solidFill>
                <a:latin typeface="Calibri"/>
              </a:rPr>
              <a:t>FastAPI  ·  in-process event bus  ·  SQLite  ·  React  ·  Hive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IMPACT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What the agents actually move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Calibri"/>
              </a:rPr>
              <a:t>+34%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network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vs naive dispatch (MDPI multi-agent study)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057400"/>
            <a:ext cx="2670048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9E1B"/>
                </a:solidFill>
                <a:latin typeface="Calibri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instant platforming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trains platformed without waiting, in sim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57400"/>
            <a:ext cx="2670048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5D07F"/>
                </a:solidFill>
                <a:latin typeface="Calibri"/>
              </a:rPr>
              <a:t>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agent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from event detected to decision proposed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Calibri"/>
              </a:rPr>
              <a:t>20%+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fewer knock-on delays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cascade reduction across the corridor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AA7BD"/>
                </a:solidFill>
                <a:latin typeface="Calibri"/>
              </a:rPr>
              <a:t>Simulated results. Pilot validation planned.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One corridor today, the network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59" y="2029967"/>
            <a:ext cx="10515600" cy="36576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901952"/>
            <a:ext cx="256032" cy="256032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4A9EFF"/>
                </a:solidFill>
                <a:latin typeface="Calibri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Hackathon 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Corridor simulation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Delay injection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Platform reassignment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Live agent control room</a:t>
            </a:r>
          </a:p>
        </p:txBody>
      </p:sp>
      <p:sp>
        <p:nvSpPr>
          <p:cNvPr id="13" name="Oval 12"/>
          <p:cNvSpPr/>
          <p:nvPr/>
        </p:nvSpPr>
        <p:spPr>
          <a:xfrm>
            <a:off x="4507992" y="1901952"/>
            <a:ext cx="256032" cy="256032"/>
          </a:xfrm>
          <a:prstGeom prst="ellipse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5112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28600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F9E1B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5-station live corridor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NTES integration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Real crew &amp; duty data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Operator-in-the-loop</a:t>
            </a:r>
          </a:p>
        </p:txBody>
      </p:sp>
      <p:sp>
        <p:nvSpPr>
          <p:cNvPr id="19" name="Oval 18"/>
          <p:cNvSpPr/>
          <p:nvPr/>
        </p:nvSpPr>
        <p:spPr>
          <a:xfrm>
            <a:off x="8193023" y="1901952"/>
            <a:ext cx="256032" cy="256032"/>
          </a:xfrm>
          <a:prstGeom prst="ellipse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228600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35D07F"/>
                </a:solidFill>
                <a:latin typeface="Calibri"/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National rollout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RL-based dispatch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Passenger AI chatbot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Rail Madad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