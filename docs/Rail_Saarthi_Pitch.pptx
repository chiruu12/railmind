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l-saarthi-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417320"/>
            <a:ext cx="5255443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977639"/>
            <a:ext cx="94484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4F7FC"/>
                </a:solidFill>
                <a:latin typeface="Calibri"/>
              </a:rPr>
              <a:t>An agentic operating system for Indian Railways</a:t>
            </a:r>
          </a:p>
          <a:p>
            <a:pPr algn="ctr"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A7BD"/>
                </a:solidFill>
                <a:latin typeface="Calibri"/>
              </a:rPr>
              <a:t>Multi-agent AI that keeps trains on time — in real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5166360"/>
            <a:ext cx="1371600" cy="41148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5166360"/>
            <a:ext cx="914400" cy="4114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035040"/>
            <a:ext cx="94484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 spc="100">
                <a:solidFill>
                  <a:srgbClr val="9AA7BD"/>
                </a:solidFill>
                <a:latin typeface="Calibri"/>
              </a:rPr>
              <a:t>FAR AWAY 2026  ·  Hackathon MVP  ·  built on Hive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F7FC"/>
                </a:solidFill>
                <a:latin typeface="Calibri"/>
              </a:rPr>
              <a:t>India's railways are falling behind — </a:t>
            </a:r>
            <a:r>
              <a:rPr sz="4000" b="1" i="0">
                <a:solidFill>
                  <a:srgbClr val="FF9E1B"/>
                </a:solidFill>
                <a:latin typeface="Calibri"/>
              </a:rPr>
              <a:t>on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486400" cy="2926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63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 spc="200">
                <a:solidFill>
                  <a:srgbClr val="9AA7BD"/>
                </a:solidFill>
                <a:latin typeface="Calibri"/>
              </a:rPr>
              <a:t>ON-TIME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2044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9AA7BD"/>
                </a:solidFill>
                <a:latin typeface="Calibri"/>
              </a:rPr>
              <a:t>94.2%</a:t>
            </a:r>
            <a:r>
              <a:rPr sz="4000" b="1" i="0">
                <a:solidFill>
                  <a:srgbClr val="FF9E1B"/>
                </a:solidFill>
                <a:latin typeface="Calibri"/>
              </a:rPr>
              <a:t>  →  </a:t>
            </a:r>
            <a:r>
              <a:rPr sz="5800" b="1" i="0">
                <a:solidFill>
                  <a:srgbClr val="FF9E1B"/>
                </a:solidFill>
                <a:latin typeface="Calibri"/>
              </a:rPr>
              <a:t>73.6%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9AA7BD"/>
                </a:solidFill>
                <a:latin typeface="Calibri"/>
              </a:rPr>
              <a:t>Punctuality on key routes, 2020 → 2023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743200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852928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19M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852928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passengers carried every single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76472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886200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69,000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886200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of track across the network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809744"/>
            <a:ext cx="5120640" cy="8686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919472"/>
            <a:ext cx="1828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4A9EF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919472"/>
            <a:ext cx="2834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C"/>
                </a:solidFill>
                <a:latin typeface="Calibri"/>
              </a:rPr>
              <a:t>real-time, system-wide intelligence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CURRENT PAIN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Where the system breaks down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Chronic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80% of key routes run over capacity — no slack to absorb a single slip.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Fragmented scheduling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Crew and platform assignments juggled by hand, control center to control center.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965960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1965960"/>
            <a:ext cx="82296" cy="178308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16712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Aging 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1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British-era signaling still gates throughput on critical sections.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No proactive comms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Passengers learn of disruptions late, if at all — no live, trustworthy updates.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5112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5112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Freight–passenger conflict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Shared tracks force constant trade-offs with no system-wide optimizer.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0144" y="3977639"/>
            <a:ext cx="3502152" cy="1783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10144" y="3977639"/>
            <a:ext cx="82296" cy="1783080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178807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C"/>
                </a:solidFill>
                <a:latin typeface="Calibri"/>
              </a:rPr>
              <a:t>Siloed control centers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4464" y="4690872"/>
            <a:ext cx="2999232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7BD"/>
                </a:solidFill>
                <a:latin typeface="Calibri"/>
              </a:rPr>
              <a:t>Each zone sees its own slice; no shared, real-time network awareness.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7FC"/>
                </a:solidFill>
                <a:latin typeface="Calibri"/>
              </a:rPr>
              <a:t>Rail Saarthi</a:t>
            </a:r>
            <a:r>
              <a:rPr sz="3400" b="1" i="0">
                <a:solidFill>
                  <a:srgbClr val="4A9EFF"/>
                </a:solidFill>
                <a:latin typeface="Calibri"/>
              </a:rPr>
              <a:t> — an agentic OS for Indian Railways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A9EFF"/>
                </a:solidFill>
                <a:latin typeface="Calibri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A multi-agent AI system — Train, Station, Crew, Maintenance and Passenger agents coordinating on a live digital twin.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219456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9E1B"/>
                </a:solidFill>
                <a:latin typeface="Calibri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Makes real-time decisions across trains, stations, crew and freight: detect a delay, reroute platforms, swap crew, alert passengers.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502152" cy="26974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10144" y="219456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14600"/>
            <a:ext cx="29535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35D07F"/>
                </a:solidFill>
                <a:latin typeface="Calibri"/>
              </a:rPr>
              <a:t>What it replaces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154680"/>
            <a:ext cx="29535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F7FC"/>
                </a:solidFill>
                <a:latin typeface="Calibri"/>
              </a:rPr>
              <a:t>Reactive, manual control-room firefighting → proactive, autonomous coordination that self-heals the timetable.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25780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9AA7BD"/>
                </a:solidFill>
                <a:latin typeface="Calibri"/>
              </a:rPr>
              <a:t>Deterministic rules decide what's feasible. LLMs choose among safe options and explain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Inject a 25-min delay. Watch the system self-heal.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7498079" cy="4069080"/>
          </a:xfrm>
          <a:prstGeom prst="roundRect">
            <a:avLst>
              <a:gd name="adj" fmla="val 8000"/>
            </a:avLst>
          </a:prstGeom>
          <a:solidFill>
            <a:srgbClr val="0D1426"/>
          </a:solidFill>
          <a:ln w="1905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729" y="1993392"/>
            <a:ext cx="6606780" cy="3922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92024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21040" y="1920240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77072" y="20391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Corridor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7072" y="237744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live train positions on the NDLS–DDU 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953512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2953512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0723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Agent feed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34107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the cascade resolving, decision by decision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86783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86783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05655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Platform timeline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43983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a conflict caught and avoided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5020055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21040" y="5020055"/>
            <a:ext cx="82296" cy="91440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77072" y="5138927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A9EFF"/>
                </a:solidFill>
                <a:latin typeface="Calibri"/>
              </a:rPr>
              <a:t>KPI 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5477255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instant platforming, avg delay, knock-on saved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7FC"/>
                </a:solidFill>
                <a:latin typeface="Calibri"/>
              </a:rPr>
              <a:t>Agents on a shared bus, fed by live rail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Train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18488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79776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9776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Station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58184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19472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19472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Crew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59168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9168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Maintenance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98864" y="2057400"/>
            <a:ext cx="1975104" cy="777240"/>
          </a:xfrm>
          <a:prstGeom prst="roundRect">
            <a:avLst>
              <a:gd name="adj" fmla="val 8000"/>
            </a:avLst>
          </a:prstGeom>
          <a:solidFill>
            <a:srgbClr val="16223C"/>
          </a:solidFill>
          <a:ln w="15875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98864" y="2057400"/>
            <a:ext cx="197510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C"/>
                </a:solidFill>
                <a:latin typeface="Calibri"/>
              </a:rPr>
              <a:t>Passenger Info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9AA7BD"/>
                </a:solidFill>
                <a:latin typeface="Calibri"/>
              </a:rPr>
              <a:t>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77272" y="2834640"/>
            <a:ext cx="22860" cy="411480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2461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46120"/>
            <a:ext cx="10881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 spc="300">
                <a:solidFill>
                  <a:srgbClr val="010715"/>
                </a:solidFill>
                <a:latin typeface="Calibri"/>
              </a:rPr>
              <a:t>CENTRAL MESSAGE BUS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0690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 spc="200">
                <a:solidFill>
                  <a:srgbClr val="9AA7BD"/>
                </a:solidFill>
                <a:latin typeface="Calibri"/>
              </a:rPr>
              <a:t>DATA SOURCES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NTES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79776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79776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IRCTC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19472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9472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FOIS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59168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SCADA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4" y="4434840"/>
            <a:ext cx="1975104" cy="54864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4" y="4434840"/>
            <a:ext cx="197510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Weather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3492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9AA7BD"/>
                </a:solidFill>
                <a:latin typeface="Calibri"/>
              </a:rPr>
              <a:t>Stack:  </a:t>
            </a:r>
            <a:r>
              <a:rPr sz="1300" b="0" i="0">
                <a:solidFill>
                  <a:srgbClr val="F4F7FC"/>
                </a:solidFill>
                <a:latin typeface="Calibri"/>
              </a:rPr>
              <a:t>FastAPI  ·  in-process event bus  ·  SQLite  ·  React  ·  Hive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IMPACT &amp;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What the agents actually move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+34%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network 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vs naive dispatch (MDPI multi-agent study)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057400"/>
            <a:ext cx="2670048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9E1B"/>
                </a:solidFill>
                <a:latin typeface="Calibri"/>
              </a:rP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instant platforming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trains platformed without waiting, in sim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2057400"/>
            <a:ext cx="2670048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35D07F"/>
                </a:solidFill>
                <a:latin typeface="Calibri"/>
              </a:rPr>
              <a:t>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agent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from event detected to decision proposed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0574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2057400"/>
            <a:ext cx="2670048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2514600"/>
            <a:ext cx="23042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4A9EFF"/>
                </a:solidFill>
                <a:latin typeface="Calibri"/>
              </a:rPr>
              <a:t>20%+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474720"/>
            <a:ext cx="23042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C"/>
                </a:solidFill>
                <a:latin typeface="Calibri"/>
              </a:rPr>
              <a:t>fewer knock-on delays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3931920"/>
            <a:ext cx="23042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AA7BD"/>
                </a:solidFill>
                <a:latin typeface="Calibri"/>
              </a:rPr>
              <a:t>cascade reduction across the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9AA7BD"/>
                </a:solidFill>
                <a:latin typeface="Calibri"/>
              </a:rPr>
              <a:t>Simulated results — pilot validation planned.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7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85216"/>
            <a:ext cx="292608" cy="6400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4846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50">
                <a:solidFill>
                  <a:srgbClr val="4A9E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4F7FC"/>
                </a:solidFill>
                <a:latin typeface="Calibri"/>
              </a:rPr>
              <a:t>One corridor today, the network tomorrow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59" y="2029967"/>
            <a:ext cx="10515600" cy="36576"/>
          </a:xfrm>
          <a:prstGeom prst="rect">
            <a:avLst/>
          </a:prstGeom>
          <a:solidFill>
            <a:srgbClr val="24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901952"/>
            <a:ext cx="256032" cy="256032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502152" cy="82296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4A9EFF"/>
                </a:solidFill>
                <a:latin typeface="Calibri"/>
              </a:rPr>
              <a:t>PHASE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Hackathon MVP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Corridor simulation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Delay injection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Platform reassignment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4A9EF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Live agent control room</a:t>
            </a:r>
          </a:p>
        </p:txBody>
      </p:sp>
      <p:sp>
        <p:nvSpPr>
          <p:cNvPr id="13" name="Oval 12"/>
          <p:cNvSpPr/>
          <p:nvPr/>
        </p:nvSpPr>
        <p:spPr>
          <a:xfrm>
            <a:off x="4507992" y="1901952"/>
            <a:ext cx="256032" cy="256032"/>
          </a:xfrm>
          <a:prstGeom prst="ellipse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5112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286000"/>
            <a:ext cx="3502152" cy="82296"/>
          </a:xfrm>
          <a:prstGeom prst="rect">
            <a:avLst/>
          </a:prstGeom>
          <a:solidFill>
            <a:srgbClr val="FF9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FF9E1B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5-station live corridor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NTES integration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Real crew &amp; duty data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FF9E1B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Operator-in-the-loop</a:t>
            </a:r>
          </a:p>
        </p:txBody>
      </p:sp>
      <p:sp>
        <p:nvSpPr>
          <p:cNvPr id="19" name="Oval 18"/>
          <p:cNvSpPr/>
          <p:nvPr/>
        </p:nvSpPr>
        <p:spPr>
          <a:xfrm>
            <a:off x="8193023" y="1901952"/>
            <a:ext cx="256032" cy="256032"/>
          </a:xfrm>
          <a:prstGeom prst="ellipse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10144" y="2286000"/>
            <a:ext cx="3502152" cy="3200400"/>
          </a:xfrm>
          <a:prstGeom prst="roundRect">
            <a:avLst>
              <a:gd name="adj" fmla="val 8000"/>
            </a:avLst>
          </a:prstGeom>
          <a:solidFill>
            <a:srgbClr val="121B30"/>
          </a:solidFill>
          <a:ln w="12700">
            <a:solidFill>
              <a:srgbClr val="243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2286000"/>
            <a:ext cx="3502152" cy="82296"/>
          </a:xfrm>
          <a:prstGeom prst="rect">
            <a:avLst/>
          </a:prstGeom>
          <a:solidFill>
            <a:srgbClr val="35D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2560320"/>
            <a:ext cx="29535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 spc="200">
                <a:solidFill>
                  <a:srgbClr val="35D07F"/>
                </a:solidFill>
                <a:latin typeface="Calibri"/>
              </a:rPr>
              <a:t>PHASE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2907791"/>
            <a:ext cx="2953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4F7FC"/>
                </a:solidFill>
                <a:latin typeface="Calibri"/>
              </a:rPr>
              <a:t>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3566160"/>
            <a:ext cx="295351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National rollout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RL-based dispatch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Passenger AI chatbot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35D07F"/>
                </a:solidFill>
                <a:latin typeface="Calibri"/>
              </a:rPr>
              <a:t>•  </a:t>
            </a:r>
            <a:r>
              <a:rPr sz="1350" b="0" i="0">
                <a:solidFill>
                  <a:srgbClr val="F4F7FC"/>
                </a:solidFill>
                <a:latin typeface="Calibri"/>
              </a:rPr>
              <a:t>Rail Madad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 spc="100">
                <a:solidFill>
                  <a:srgbClr val="9AA7BD"/>
                </a:solidFill>
                <a:latin typeface="Calibri"/>
              </a:rPr>
              <a:t>Rail Saarthi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