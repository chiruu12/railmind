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l-saarthi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417320"/>
            <a:ext cx="5255443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977639"/>
            <a:ext cx="94484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4F7FC"/>
                </a:solidFill>
                <a:latin typeface="Calibri"/>
              </a:rPr>
              <a:t>An agentic operating system for Indian Railways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500" b="0" i="0">
                <a:solidFill>
                  <a:srgbClr val="9AA7BD"/>
                </a:solidFill>
                <a:latin typeface="Calibri"/>
              </a:rPr>
              <a:t>Multi-agent AI that keeps trains on time — in real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5166360"/>
            <a:ext cx="1371600" cy="41148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5166360"/>
            <a:ext cx="914400" cy="4114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6035040"/>
            <a:ext cx="94484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9AA7BD"/>
                </a:solidFill>
                <a:latin typeface="Calibri"/>
              </a:rPr>
              <a:t>FAR AWAY 2026  ·  Hackathon MVP  ·  built on Hive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4F7FC"/>
                </a:solidFill>
                <a:latin typeface="Calibri"/>
              </a:rPr>
              <a:t>India's railways are falling behind — </a:t>
            </a:r>
            <a:r>
              <a:rPr sz="4000" b="1" i="0">
                <a:solidFill>
                  <a:srgbClr val="FF9E1B"/>
                </a:solidFill>
                <a:latin typeface="Calibri"/>
              </a:rPr>
              <a:t>on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486400" cy="2926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632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00">
                <a:solidFill>
                  <a:srgbClr val="9AA7BD"/>
                </a:solidFill>
                <a:latin typeface="Calibri"/>
              </a:rPr>
              <a:t>ON-TIME 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2044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9AA7BD"/>
                </a:solidFill>
                <a:latin typeface="Calibri"/>
              </a:rPr>
              <a:t>94.2%</a:t>
            </a:r>
            <a:r>
              <a:rPr sz="4000" b="1" i="0">
                <a:solidFill>
                  <a:srgbClr val="FF9E1B"/>
                </a:solidFill>
                <a:latin typeface="Calibri"/>
              </a:rPr>
              <a:t>  →  </a:t>
            </a:r>
            <a:r>
              <a:rPr sz="5800" b="1" i="0">
                <a:solidFill>
                  <a:srgbClr val="FF9E1B"/>
                </a:solidFill>
                <a:latin typeface="Calibri"/>
              </a:rPr>
              <a:t>73.6%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A7BD"/>
                </a:solidFill>
                <a:latin typeface="Calibri"/>
              </a:rPr>
              <a:t>Punctuality on key routes, 2020 → 2023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743200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852928"/>
            <a:ext cx="1828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EFF"/>
                </a:solidFill>
                <a:latin typeface="Calibri"/>
              </a:rPr>
              <a:t>19M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85292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C"/>
                </a:solidFill>
                <a:latin typeface="Calibri"/>
              </a:rPr>
              <a:t>passengers carried every single 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776472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3886200"/>
            <a:ext cx="1828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EFF"/>
                </a:solidFill>
                <a:latin typeface="Calibri"/>
              </a:rPr>
              <a:t>69,000 km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886200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C"/>
                </a:solidFill>
                <a:latin typeface="Calibri"/>
              </a:rPr>
              <a:t>of track across the network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809744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919472"/>
            <a:ext cx="1828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EFF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919472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C"/>
                </a:solidFill>
                <a:latin typeface="Calibri"/>
              </a:rPr>
              <a:t>real-time, system-wide intelligence today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CURRENT PAIN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7FC"/>
                </a:solidFill>
                <a:latin typeface="Calibri"/>
              </a:rPr>
              <a:t>Where the system breaks down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82296" cy="17830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Chronic delays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79191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80% of key routes run over capacity — no slack to absorb a single slip.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96596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1965960"/>
            <a:ext cx="82296" cy="17830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16712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Fragmented scheduling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679191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Crew and platform assignments juggled by hand, control center to control center.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96596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1965960"/>
            <a:ext cx="82296" cy="17830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216712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Aging infrastructure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679191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British-era signaling still gates throughput on critical sections.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77639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977639"/>
            <a:ext cx="82296" cy="1783080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178807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No proactive comms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90872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Passengers learn of disruptions late, if at all — no live, trustworthy updates.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5112" y="3977639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25112" y="3977639"/>
            <a:ext cx="82296" cy="1783080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9432" y="4178807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Freight–passenger conflict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4690872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Shared tracks force constant trade-offs with no system-wide optimizer.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3977639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10144" y="3977639"/>
            <a:ext cx="82296" cy="1783080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4178807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Siloed control centers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4690872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Each zone sees its own slice; no shared, real-time network awareness.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7FC"/>
                </a:solidFill>
                <a:latin typeface="Calibri"/>
              </a:rPr>
              <a:t>Rail Saarthi</a:t>
            </a:r>
            <a:r>
              <a:rPr sz="3400" b="1" i="0">
                <a:solidFill>
                  <a:srgbClr val="4A9EFF"/>
                </a:solidFill>
                <a:latin typeface="Calibri"/>
              </a:rPr>
              <a:t> — an agentic OS for Indian Railways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502152" cy="26974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02152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14600"/>
            <a:ext cx="2953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A9EFF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54680"/>
            <a:ext cx="29535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7FC"/>
                </a:solidFill>
                <a:latin typeface="Calibri"/>
              </a:rPr>
              <a:t>A multi-agent AI system — Train, Station, Crew, Maintenance and Passenger agents coordinating on a live digital twin.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194560"/>
            <a:ext cx="3502152" cy="26974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2194560"/>
            <a:ext cx="3502152" cy="82296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514600"/>
            <a:ext cx="2953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9E1B"/>
                </a:solidFill>
                <a:latin typeface="Calibri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154680"/>
            <a:ext cx="29535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7FC"/>
                </a:solidFill>
                <a:latin typeface="Calibri"/>
              </a:rPr>
              <a:t>Makes real-time decisions across trains, stations, crew and freight: detect a delay, reroute platforms, swap crew, alert passengers.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2194560"/>
            <a:ext cx="3502152" cy="26974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2194560"/>
            <a:ext cx="3502152" cy="82296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514600"/>
            <a:ext cx="2953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5D07F"/>
                </a:solidFill>
                <a:latin typeface="Calibri"/>
              </a:rPr>
              <a:t>What it replaces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154680"/>
            <a:ext cx="29535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7FC"/>
                </a:solidFill>
                <a:latin typeface="Calibri"/>
              </a:rPr>
              <a:t>Reactive, manual control-room firefighting → proactive, autonomous coordination that self-heals the timetable.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25780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9AA7BD"/>
                </a:solidFill>
                <a:latin typeface="Calibri"/>
              </a:rPr>
              <a:t>Deterministic rules decide what's feasible. LLMs choose among safe options and explain why.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7FC"/>
                </a:solidFill>
                <a:latin typeface="Calibri"/>
              </a:rPr>
              <a:t>Inject a 25-min delay. Watch the system self-heal.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7498079" cy="4069080"/>
          </a:xfrm>
          <a:prstGeom prst="roundRect">
            <a:avLst>
              <a:gd name="adj" fmla="val 8000"/>
            </a:avLst>
          </a:prstGeom>
          <a:solidFill>
            <a:srgbClr val="0D1426"/>
          </a:solidFill>
          <a:ln w="1905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729" y="1993392"/>
            <a:ext cx="6606780" cy="39227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92024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20240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7072" y="20391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Calibri"/>
              </a:rPr>
              <a:t>Corridor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7072" y="237744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live train positions on the NDLS–DDU 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953512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2953512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30723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Calibri"/>
              </a:rPr>
              <a:t>Agent feed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341071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the cascade resolving, decision by decision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86783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3986783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4105655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Calibri"/>
              </a:rPr>
              <a:t>Platform timeline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4443983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a conflict caught and avoided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020055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5020055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5138927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Calibri"/>
              </a:rPr>
              <a:t>KPI bar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5477255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instant platforming, avg delay, knock-on saved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7FC"/>
                </a:solidFill>
                <a:latin typeface="Calibri"/>
              </a:rPr>
              <a:t>Agents on a shared bus, fed by live rail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Train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618488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79776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79776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Station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58184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19472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Crew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59168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9168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Maintenance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98864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864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Passenger Info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77272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24612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46120"/>
            <a:ext cx="10881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 spc="300">
                <a:solidFill>
                  <a:srgbClr val="010715"/>
                </a:solidFill>
                <a:latin typeface="Calibri"/>
              </a:rPr>
              <a:t>CENTRAL MESSAGE BUS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9AA7BD"/>
                </a:solidFill>
                <a:latin typeface="Calibri"/>
              </a:rPr>
              <a:t>DATA SOURCES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NTES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79776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79776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IRCTC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19472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9472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FOIS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59168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9168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SCADA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98864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98864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Weather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34924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A7BD"/>
                </a:solidFill>
                <a:latin typeface="Calibri"/>
              </a:rPr>
              <a:t>Stack:  </a:t>
            </a:r>
            <a:r>
              <a:rPr sz="1300" b="0" i="0">
                <a:solidFill>
                  <a:srgbClr val="F4F7FC"/>
                </a:solidFill>
                <a:latin typeface="Calibri"/>
              </a:rPr>
              <a:t>Python services  ·  event bus  ·  PostgreSQL  ·  React frontend  ·  Hive agent framework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IMPACT &amp;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7FC"/>
                </a:solidFill>
                <a:latin typeface="Calibri"/>
              </a:rPr>
              <a:t>What the agents actually move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2670048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4A9EFF"/>
                </a:solidFill>
                <a:latin typeface="Calibri"/>
              </a:rPr>
              <a:t>+34%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Calibri"/>
              </a:rPr>
              <a:t>network 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vs naive dispatch (MDPI multi-agent study)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2057400"/>
            <a:ext cx="2670048" cy="82296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9E1B"/>
                </a:solidFill>
                <a:latin typeface="Calibri"/>
              </a:rP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Calibri"/>
              </a:rPr>
              <a:t>instant platforming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trains platformed without waiting, in sim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057400"/>
            <a:ext cx="2670048" cy="82296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5D07F"/>
                </a:solidFill>
                <a:latin typeface="Calibri"/>
              </a:rPr>
              <a:t>&lt;100ms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Calibri"/>
              </a:rPr>
              <a:t>agent 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from event detected to decision proposed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2057400"/>
            <a:ext cx="2670048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4A9EFF"/>
                </a:solidFill>
                <a:latin typeface="Calibri"/>
              </a:rPr>
              <a:t>20%+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Calibri"/>
              </a:rPr>
              <a:t>fewer knock-on delays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cascade reduction across the corridor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9AA7BD"/>
                </a:solidFill>
                <a:latin typeface="Calibri"/>
              </a:rPr>
              <a:t>Simulated results — pilot validation planned.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7FC"/>
                </a:solidFill>
                <a:latin typeface="Calibri"/>
              </a:rPr>
              <a:t>One corridor today, the network tomorrow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59" y="2029967"/>
            <a:ext cx="10515600" cy="36576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901952"/>
            <a:ext cx="256032" cy="256032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502152" cy="3200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502152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60320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4A9EFF"/>
                </a:solidFill>
                <a:latin typeface="Calibri"/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907791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4F7FC"/>
                </a:solidFill>
                <a:latin typeface="Calibri"/>
              </a:rPr>
              <a:t>Hackathon MVP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66160"/>
            <a:ext cx="29535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Corridor simulation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Delay injection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Platform reassignment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Live agent control room</a:t>
            </a:r>
          </a:p>
        </p:txBody>
      </p:sp>
      <p:sp>
        <p:nvSpPr>
          <p:cNvPr id="13" name="Oval 12"/>
          <p:cNvSpPr/>
          <p:nvPr/>
        </p:nvSpPr>
        <p:spPr>
          <a:xfrm>
            <a:off x="4507992" y="1901952"/>
            <a:ext cx="256032" cy="256032"/>
          </a:xfrm>
          <a:prstGeom prst="ellipse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5112" y="2286000"/>
            <a:ext cx="3502152" cy="3200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286000"/>
            <a:ext cx="3502152" cy="82296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60320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FF9E1B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907791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4F7FC"/>
                </a:solidFill>
                <a:latin typeface="Calibri"/>
              </a:rPr>
              <a:t>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566160"/>
            <a:ext cx="29535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5-station live corridor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NTES integration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Real crew &amp; duty data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Operator-in-the-loop</a:t>
            </a:r>
          </a:p>
        </p:txBody>
      </p:sp>
      <p:sp>
        <p:nvSpPr>
          <p:cNvPr id="19" name="Oval 18"/>
          <p:cNvSpPr/>
          <p:nvPr/>
        </p:nvSpPr>
        <p:spPr>
          <a:xfrm>
            <a:off x="8193023" y="1901952"/>
            <a:ext cx="256032" cy="256032"/>
          </a:xfrm>
          <a:prstGeom prst="ellipse">
            <a:avLst/>
          </a:prstGeom>
          <a:solidFill>
            <a:srgbClr val="35D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10144" y="2286000"/>
            <a:ext cx="3502152" cy="3200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0144" y="2286000"/>
            <a:ext cx="3502152" cy="82296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2560320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35D07F"/>
                </a:solidFill>
                <a:latin typeface="Calibri"/>
              </a:rP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907791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4F7FC"/>
                </a:solidFill>
                <a:latin typeface="Calibri"/>
              </a:rPr>
              <a:t>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3566160"/>
            <a:ext cx="29535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National rollout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RL-based dispatch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Passenger AI chatbot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Rail Madad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